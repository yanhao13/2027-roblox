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51206400" cy="3072384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43188" y="857250"/>
            <a:ext cx="3857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6280785"/>
          </a:xfrm>
          <a:prstGeom prst="roundRect">
            <a:avLst>
              <a:gd name="adj" fmla="val 2264"/>
            </a:avLst>
          </a:prstGeom>
          <a:solidFill>
            <a:srgbClr val="E6F0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7454126"/>
            <a:ext cx="10804961" cy="8755261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7454126"/>
            <a:ext cx="13506133" cy="6924059"/>
          </a:xfrm>
          <a:prstGeom prst="roundRect">
            <a:avLst>
              <a:gd name="adj" fmla="val 2396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7454126"/>
            <a:ext cx="13506271" cy="4333597"/>
          </a:xfrm>
          <a:prstGeom prst="roundRect">
            <a:avLst>
              <a:gd name="adj" fmla="val 3829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7454126"/>
            <a:ext cx="10804962" cy="9823450"/>
          </a:xfrm>
          <a:prstGeom prst="roundRect">
            <a:avLst>
              <a:gd name="adj" fmla="val 1689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16421" y="14497010"/>
            <a:ext cx="13506271" cy="3639482"/>
          </a:xfrm>
          <a:prstGeom prst="roundRect">
            <a:avLst>
              <a:gd name="adj" fmla="val 4559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883568" y="14710032"/>
            <a:ext cx="13506133" cy="5063133"/>
          </a:xfrm>
          <a:prstGeom prst="roundRect">
            <a:avLst>
              <a:gd name="adj" fmla="val 3277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6541234"/>
            <a:ext cx="10804961" cy="13530718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17609423"/>
            <a:ext cx="10804962" cy="4586545"/>
          </a:xfrm>
          <a:prstGeom prst="roundRect">
            <a:avLst>
              <a:gd name="adj" fmla="val 361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22527815"/>
            <a:ext cx="10804962" cy="7544137"/>
          </a:xfrm>
          <a:prstGeom prst="roundRect">
            <a:avLst>
              <a:gd name="adj" fmla="val 2199"/>
            </a:avLst>
          </a:prstGeom>
          <a:solidFill>
            <a:srgbClr val="ECF3EE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22527815"/>
            <a:ext cx="53340" cy="7544137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3568" y="24360822"/>
            <a:ext cx="13506133" cy="5711130"/>
          </a:xfrm>
          <a:prstGeom prst="roundRect">
            <a:avLst>
              <a:gd name="adj" fmla="val 290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816421" y="28403133"/>
            <a:ext cx="13506271" cy="1668819"/>
          </a:xfrm>
          <a:prstGeom prst="roundRect">
            <a:avLst>
              <a:gd name="adj" fmla="val 125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oblox-corpor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0865" y="5157731"/>
            <a:ext cx="5441514" cy="1466843"/>
          </a:xfrm>
          <a:prstGeom prst="rect">
            <a:avLst/>
          </a:prstGeom>
        </p:spPr>
      </p:pic>
      <p:pic>
        <p:nvPicPr>
          <p:cNvPr id="17" name="Picture 16" descr="university-of-cam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9353" y="5157735"/>
            <a:ext cx="7226042" cy="146683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39991" y="7842230"/>
            <a:ext cx="1002875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8752482"/>
            <a:ext cx="10028753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71672" y="7842230"/>
            <a:ext cx="12729925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271672" y="8752482"/>
            <a:ext cx="12729925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37516" y="7842230"/>
            <a:ext cx="1002875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137516" y="8752482"/>
            <a:ext cx="1002875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137516" y="13862704"/>
            <a:ext cx="10028754" cy="1942188"/>
          </a:xfrm>
          <a:prstGeom prst="roundRect">
            <a:avLst>
              <a:gd name="adj" fmla="val 50000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204525" y="16374764"/>
            <a:ext cx="12730063" cy="1647984"/>
          </a:xfrm>
          <a:prstGeom prst="roundRect">
            <a:avLst>
              <a:gd name="adj" fmla="val 12659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0130" y="14644370"/>
            <a:ext cx="10028555" cy="1576705"/>
          </a:xfrm>
          <a:prstGeom prst="roundRect">
            <a:avLst>
              <a:gd name="adj" fmla="val 8969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137516" y="16085899"/>
            <a:ext cx="10028754" cy="8963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137516" y="16085899"/>
            <a:ext cx="10028754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16929338"/>
            <a:ext cx="1002875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17839590"/>
            <a:ext cx="10028753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37516" y="17997527"/>
            <a:ext cx="1002875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137516" y="18907779"/>
            <a:ext cx="1002875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137516" y="19245599"/>
            <a:ext cx="10028754" cy="2702283"/>
          </a:xfrm>
          <a:prstGeom prst="roundRect">
            <a:avLst>
              <a:gd name="adj" fmla="val 2631"/>
            </a:avLst>
          </a:prstGeom>
          <a:gradFill flip="none" rotWithShape="1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883568" y="21143257"/>
            <a:ext cx="218624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90" b="1">
                <a:solidFill>
                  <a:srgbClr val="AE2622"/>
                </a:solidFill>
                <a:latin typeface="Arial" panose="020B0604020202090204"/>
              </a:rPr>
              <a:t>RA-LLM</a:t>
            </a:r>
            <a:endParaRPr sz="3490" b="1">
              <a:solidFill>
                <a:srgbClr val="AE2622"/>
              </a:solidFill>
              <a:latin typeface="Arial" panose="020B060402020209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4226222" y="21143257"/>
            <a:ext cx="267880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90" b="1">
                <a:solidFill>
                  <a:srgbClr val="AE2622"/>
                </a:solidFill>
                <a:latin typeface="Arial" panose="020B0604020202090204"/>
              </a:rPr>
              <a:t>CoT intent</a:t>
            </a:r>
            <a:endParaRPr sz="3490" b="1">
              <a:solidFill>
                <a:srgbClr val="AE2622"/>
              </a:solidFill>
              <a:latin typeface="Arial" panose="020B060402020209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7061437" y="21143257"/>
            <a:ext cx="373935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90" b="1">
                <a:solidFill>
                  <a:srgbClr val="AE2622"/>
                </a:solidFill>
                <a:latin typeface="Arial" panose="020B0604020202090204"/>
              </a:rPr>
              <a:t>crafted policies</a:t>
            </a:r>
            <a:endParaRPr sz="3490" b="1">
              <a:solidFill>
                <a:srgbClr val="AE2622"/>
              </a:solidFill>
              <a:latin typeface="Arial" panose="020B060402020209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0181966" y="22915919"/>
            <a:ext cx="998430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181966" y="23826172"/>
            <a:ext cx="998430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1883568" y="22119490"/>
            <a:ext cx="5634593" cy="819825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0181966" y="25958522"/>
            <a:ext cx="9984304" cy="3702824"/>
          </a:xfrm>
          <a:prstGeom prst="roundRect">
            <a:avLst>
              <a:gd name="adj" fmla="val 5634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6204525" y="7842230"/>
            <a:ext cx="657026" cy="657026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50" b="1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34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4539456" y="9351029"/>
            <a:ext cx="8194357" cy="4609326"/>
          </a:xfrm>
          <a:prstGeom prst="roundRect">
            <a:avLst>
              <a:gd name="adj" fmla="val 77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9456" y="9251969"/>
            <a:ext cx="8194357" cy="4609326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26204525" y="14885114"/>
            <a:ext cx="657026" cy="657026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50" b="1">
                <a:solidFill>
                  <a:srgbClr val="FFFFFF"/>
                </a:solidFill>
                <a:latin typeface="Arial" panose="020B0604020202090204"/>
              </a:rPr>
              <a:t>4</a:t>
            </a:r>
            <a:endParaRPr sz="34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2271672" y="15098137"/>
            <a:ext cx="657027" cy="657026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50" b="1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34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6092427" y="19467849"/>
            <a:ext cx="3827978" cy="23052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092427" y="19467849"/>
            <a:ext cx="11557" cy="2305288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2271672" y="23560206"/>
            <a:ext cx="657027" cy="657027"/>
          </a:xfrm>
          <a:prstGeom prst="roundRect">
            <a:avLst>
              <a:gd name="adj" fmla="val 50000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450" b="1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345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7697489" y="24617283"/>
            <a:ext cx="1878429" cy="2134433"/>
          </a:xfrm>
          <a:prstGeom prst="roundRect">
            <a:avLst>
              <a:gd name="adj" fmla="val 7968"/>
            </a:avLst>
          </a:prstGeom>
          <a:solidFill>
            <a:srgbClr val="FFFFFF"/>
          </a:solidFill>
          <a:ln w="8890">
            <a:solidFill>
              <a:srgbClr val="AFC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4984511" y="24927321"/>
            <a:ext cx="1878568" cy="1514356"/>
          </a:xfrm>
          <a:prstGeom prst="roundRect">
            <a:avLst>
              <a:gd name="adj" fmla="val 9884"/>
            </a:avLst>
          </a:prstGeom>
          <a:solidFill>
            <a:srgbClr val="FFFFFF"/>
          </a:solidFill>
          <a:ln w="8890">
            <a:solidFill>
              <a:srgbClr val="AFC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2271672" y="25237360"/>
            <a:ext cx="1878429" cy="894279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FC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65" b="1">
                <a:solidFill>
                  <a:srgbClr val="2D5F3E"/>
                </a:solidFill>
                <a:latin typeface="Arial" panose="020B0604020202090204"/>
              </a:rPr>
              <a:t>Safety</a:t>
            </a:r>
            <a:endParaRPr sz="336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0410328" y="25237360"/>
            <a:ext cx="1878429" cy="894279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FC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65" b="1">
                <a:solidFill>
                  <a:srgbClr val="2D5F3E"/>
                </a:solidFill>
                <a:latin typeface="Arial" panose="020B0604020202090204"/>
              </a:rPr>
              <a:t>Reflect</a:t>
            </a:r>
            <a:endParaRPr sz="336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3123167" y="25237360"/>
            <a:ext cx="1878430" cy="894279"/>
          </a:xfrm>
          <a:prstGeom prst="roundRect">
            <a:avLst>
              <a:gd name="adj" fmla="val 16737"/>
            </a:avLst>
          </a:prstGeom>
          <a:solidFill>
            <a:srgbClr val="FFFFFF"/>
          </a:solidFill>
          <a:ln w="8890">
            <a:solidFill>
              <a:srgbClr val="AFC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3365" b="1">
                <a:solidFill>
                  <a:srgbClr val="2D5F3E"/>
                </a:solidFill>
                <a:latin typeface="Arial" panose="020B0604020202090204"/>
              </a:rPr>
              <a:t>Explain</a:t>
            </a:r>
            <a:endParaRPr sz="336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2271672" y="28524854"/>
            <a:ext cx="4069398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6601797" y="28524854"/>
            <a:ext cx="4069536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0932060" y="28524854"/>
            <a:ext cx="4069537" cy="1604923"/>
          </a:xfrm>
          <a:prstGeom prst="roundRect">
            <a:avLst>
              <a:gd name="adj" fmla="val 16248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137516" y="12632134"/>
            <a:ext cx="10028754" cy="945118"/>
          </a:xfrm>
          <a:prstGeom prst="rect">
            <a:avLst/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83945" y="20076160"/>
            <a:ext cx="9984740" cy="2326005"/>
          </a:xfrm>
          <a:prstGeom prst="roundRect">
            <a:avLst>
              <a:gd name="adj" fmla="val 8969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137516" y="9090302"/>
            <a:ext cx="5267742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137516" y="9787890"/>
            <a:ext cx="526774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405258" y="9090302"/>
            <a:ext cx="2082482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5405258" y="9787890"/>
            <a:ext cx="208248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7487740" y="9090302"/>
            <a:ext cx="1167230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487740" y="9787890"/>
            <a:ext cx="116723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8654970" y="9090302"/>
            <a:ext cx="1511300" cy="70647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8654970" y="9787890"/>
            <a:ext cx="151130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0137516" y="9796780"/>
            <a:ext cx="526774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0137516" y="10733008"/>
            <a:ext cx="526774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405258" y="9796780"/>
            <a:ext cx="20824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405258" y="10733008"/>
            <a:ext cx="208248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487740" y="9796780"/>
            <a:ext cx="116723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7487740" y="10733008"/>
            <a:ext cx="116723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654970" y="9796780"/>
            <a:ext cx="151130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8654970" y="10733008"/>
            <a:ext cx="151130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137516" y="10741898"/>
            <a:ext cx="526774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137516" y="11678126"/>
            <a:ext cx="526774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5405258" y="10741898"/>
            <a:ext cx="20824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405258" y="11678126"/>
            <a:ext cx="208248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7487740" y="10741898"/>
            <a:ext cx="116723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7487740" y="11678126"/>
            <a:ext cx="116723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8654970" y="10741898"/>
            <a:ext cx="151130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8654970" y="11678126"/>
            <a:ext cx="151130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137516" y="11687016"/>
            <a:ext cx="526774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0137516" y="12623244"/>
            <a:ext cx="526774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405258" y="11687016"/>
            <a:ext cx="20824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405258" y="12623244"/>
            <a:ext cx="208248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487740" y="11687016"/>
            <a:ext cx="116723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7487740" y="12623244"/>
            <a:ext cx="116723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8654970" y="11687016"/>
            <a:ext cx="151130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8654970" y="12623244"/>
            <a:ext cx="151130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0137516" y="12632134"/>
            <a:ext cx="526774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0137516" y="13568362"/>
            <a:ext cx="526774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405258" y="12632134"/>
            <a:ext cx="208248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5405258" y="13568362"/>
            <a:ext cx="2082482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7487740" y="12632134"/>
            <a:ext cx="116723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7487740" y="13568362"/>
            <a:ext cx="116723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8654970" y="12632134"/>
            <a:ext cx="1511300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8654970" y="13568362"/>
            <a:ext cx="151130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613673" y="17811174"/>
            <a:ext cx="2977873" cy="1994833"/>
          </a:xfrm>
          <a:prstGeom prst="roundRect">
            <a:avLst>
              <a:gd name="adj" fmla="val 13072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852273" y="17811174"/>
            <a:ext cx="2977872" cy="1994833"/>
          </a:xfrm>
          <a:prstGeom prst="roundRect">
            <a:avLst>
              <a:gd name="adj" fmla="val 13072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090872" y="17811174"/>
            <a:ext cx="2977872" cy="1994833"/>
          </a:xfrm>
          <a:prstGeom prst="roundRect">
            <a:avLst>
              <a:gd name="adj" fmla="val 13072"/>
            </a:avLst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15581" y="1007487"/>
            <a:ext cx="49001957" cy="27590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8940"/>
              </a:lnSpc>
              <a:spcBef>
                <a:spcPts val="0"/>
              </a:spcBef>
              <a:spcAft>
                <a:spcPts val="0"/>
              </a:spcAft>
            </a:pPr>
            <a:r>
              <a:rPr sz="8125" b="1" spc="-85">
                <a:solidFill>
                  <a:srgbClr val="2D5F3E"/>
                </a:solidFill>
                <a:latin typeface="Arial" panose="020B0604020202090204"/>
              </a:rPr>
              <a:t>Toward Safe and Human-Aligned Game Conversational Recommendation via Multi-Agent</a:t>
            </a:r>
            <a:endParaRPr sz="8125" b="1" spc="-85">
              <a:solidFill>
                <a:srgbClr val="2D5F3E"/>
              </a:solidFill>
              <a:latin typeface="Arial" panose="020B0604020202090204"/>
            </a:endParaRPr>
          </a:p>
          <a:p>
            <a:pPr algn="ctr">
              <a:lnSpc>
                <a:spcPts val="8940"/>
              </a:lnSpc>
              <a:spcBef>
                <a:spcPts val="0"/>
              </a:spcBef>
              <a:spcAft>
                <a:spcPts val="0"/>
              </a:spcAft>
            </a:pPr>
            <a:r>
              <a:rPr sz="8125" b="1" spc="-85">
                <a:solidFill>
                  <a:srgbClr val="2D5F3E"/>
                </a:solidFill>
                <a:latin typeface="Arial" panose="020B0604020202090204"/>
              </a:rPr>
              <a:t>Decomposition</a:t>
            </a:r>
            <a:endParaRPr sz="8125" b="1" spc="-85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315581" y="3646566"/>
            <a:ext cx="49001957" cy="7797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340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Zheng Hui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1</a:t>
            </a: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, Xiaokai Wei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1</a:t>
            </a: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, Yexi Jiang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1</a:t>
            </a: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, Kevin Gao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1</a:t>
            </a: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, Chen Wang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1</a:t>
            </a: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, Frank Ong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2</a:t>
            </a: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, Se-eun Yoon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1</a:t>
            </a: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, Rachit Pareek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1</a:t>
            </a:r>
            <a:r>
              <a:rPr sz="4105" b="0">
                <a:solidFill>
                  <a:srgbClr val="1B2331"/>
                </a:solidFill>
                <a:latin typeface="Arial" panose="020B0604020202090204"/>
              </a:rPr>
              <a:t>, Michelle Gong</a:t>
            </a:r>
            <a:r>
              <a:rPr sz="5750" b="0" baseline="30000">
                <a:solidFill>
                  <a:srgbClr val="1B2331"/>
                </a:solidFill>
                <a:latin typeface="Arial" panose="020B0604020202090204"/>
              </a:rPr>
              <a:t>1</a:t>
            </a:r>
            <a:endParaRPr sz="5750" b="0" baseline="30000">
              <a:solidFill>
                <a:srgbClr val="1B2331"/>
              </a:solidFill>
              <a:latin typeface="Arial" panose="020B0604020202090204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25816421" y="23768804"/>
            <a:ext cx="13911459" cy="4348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Explanations are scored along four dimensions and capped by an </a:t>
            </a:r>
            <a:r>
              <a:rPr sz="4105" b="0" i="1">
                <a:solidFill>
                  <a:srgbClr val="1C1C1C"/>
                </a:solidFill>
                <a:latin typeface="Arial" panose="020B0604020202090204"/>
              </a:rPr>
              <a:t>explanation quota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 to keep latency bounded. Virtual judges and human annotators both rate MATCHA explanations at ~4/5, agreeing with each other and correlating with user-reported satisfaction.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25816421" y="28403133"/>
            <a:ext cx="13911459" cy="1919141"/>
          </a:xfrm>
          <a:prstGeom prst="rect">
            <a:avLst/>
          </a:prstGeom>
          <a:noFill/>
        </p:spPr>
        <p:txBody>
          <a:bodyPr wrap="square" lIns="365082" tIns="156464" rIns="365082" bIns="156464">
            <a:spAutoFit/>
          </a:bodyPr>
          <a:lstStyle/>
          <a:p>
            <a:pPr algn="l">
              <a:lnSpc>
                <a:spcPts val="5340"/>
              </a:lnSpc>
              <a:spcBef>
                <a:spcPts val="0"/>
              </a:spcBef>
              <a:spcAft>
                <a:spcPts val="0"/>
              </a:spcAft>
            </a:pPr>
            <a:r>
              <a:rPr sz="4105" b="1">
                <a:solidFill>
                  <a:srgbClr val="FFFFFF"/>
                </a:solidFill>
                <a:latin typeface="Arial" panose="020B0604020202090204"/>
              </a:rPr>
              <a:t>A safe, accurate recommendation without a reason is a recommendation nobody trusts.</a:t>
            </a:r>
            <a:endParaRPr sz="4105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315581" y="4381380"/>
            <a:ext cx="49001957" cy="5929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 panose="020B0604020202090204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 panose="020B0604020202090204"/>
              </a:rPr>
              <a:t> Roblox Corporation    </a:t>
            </a:r>
            <a:r>
              <a:rPr sz="3920" b="0" spc="56" baseline="30000">
                <a:solidFill>
                  <a:srgbClr val="55617A"/>
                </a:solidFill>
                <a:latin typeface="Arial" panose="020B0604020202090204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 panose="020B0604020202090204"/>
              </a:rPr>
              <a:t> University of Cambridge</a:t>
            </a:r>
            <a:endParaRPr sz="2800" b="0" spc="56">
              <a:solidFill>
                <a:srgbClr val="55617A"/>
              </a:solidFill>
              <a:latin typeface="Arial" panose="020B0604020202090204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39991" y="7842230"/>
            <a:ext cx="10329615" cy="1067236"/>
          </a:xfrm>
          <a:prstGeom prst="rect">
            <a:avLst/>
          </a:prstGeom>
          <a:noFill/>
        </p:spPr>
        <p:txBody>
          <a:bodyPr wrap="square" lIns="0" tIns="0" rIns="391160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 panose="020B0604020202090204"/>
              </a:rPr>
              <a:t>Problem </a:t>
            </a:r>
            <a:endParaRPr sz="560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12271672" y="7842230"/>
            <a:ext cx="13111822" cy="1067236"/>
          </a:xfrm>
          <a:prstGeom prst="rect">
            <a:avLst/>
          </a:prstGeom>
          <a:noFill/>
        </p:spPr>
        <p:txBody>
          <a:bodyPr wrap="none" lIns="0" tIns="0" rIns="391160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 panose="020B0604020202090204"/>
              </a:rPr>
              <a:t>Method </a:t>
            </a:r>
            <a:endParaRPr sz="560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0137516" y="7842230"/>
            <a:ext cx="10329616" cy="1067236"/>
          </a:xfrm>
          <a:prstGeom prst="rect">
            <a:avLst/>
          </a:prstGeom>
          <a:noFill/>
        </p:spPr>
        <p:txBody>
          <a:bodyPr wrap="square" lIns="0" tIns="0" rIns="391160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 panose="020B0604020202090204"/>
              </a:rPr>
              <a:t>Key Results </a:t>
            </a:r>
            <a:endParaRPr sz="560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6204525" y="8492688"/>
            <a:ext cx="13111964" cy="60874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GPT-4o and Gemini rank in parallel over </a:t>
            </a:r>
            <a:r>
              <a:rPr sz="4105" b="1">
                <a:solidFill>
                  <a:srgbClr val="111111"/>
                </a:solidFill>
                <a:latin typeface="Arial" panose="020B0604020202090204"/>
              </a:rPr>
              <a:t>five criteria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 — popularity, preference match, similarity to history, genre alignment, age suitability — and a weighted average fuses their scores. A small exploration term keeps long-tail candidates in play. A </a:t>
            </a:r>
            <a:r>
              <a:rPr sz="4105" b="1">
                <a:solidFill>
                  <a:srgbClr val="111111"/>
                </a:solidFill>
                <a:latin typeface="Arial" panose="020B0604020202090204"/>
              </a:rPr>
              <a:t>reflection agent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 then re-ranks the top candidates using detailed </a:t>
            </a:r>
            <a:r>
              <a:rPr sz="4105" b="0" i="1">
                <a:solidFill>
                  <a:srgbClr val="1C1C1C"/>
                </a:solidFill>
                <a:latin typeface="Arial" panose="020B0604020202090204"/>
              </a:rPr>
              <a:t>game profiles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, trading a little diversity for sharper relevance.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039991" y="9090302"/>
            <a:ext cx="10329615" cy="6087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Game conversational recommendation is a fundamentally harder CRS problem than movies: catalogs change daily, preferences are driven by how a player </a:t>
            </a:r>
            <a:r>
              <a:rPr sz="4105" b="0" i="1">
                <a:solidFill>
                  <a:srgbClr val="1C1C1C"/>
                </a:solidFill>
                <a:latin typeface="Arial" panose="020B0604020202090204"/>
              </a:rPr>
              <a:t>interacts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 — mechanics, skill level, platform, solo vs. multi — not by theme, and open-ended conversation invites adversarial prompts.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40137516" y="13862704"/>
            <a:ext cx="10329616" cy="2233516"/>
          </a:xfrm>
          <a:prstGeom prst="rect">
            <a:avLst/>
          </a:prstGeom>
          <a:noFill/>
        </p:spPr>
        <p:txBody>
          <a:bodyPr wrap="square" lIns="485560" tIns="281113" rIns="485560" bIns="281113">
            <a:spAutoFit/>
          </a:bodyPr>
          <a:lstStyle/>
          <a:p>
            <a:pPr algn="ctr">
              <a:lnSpc>
                <a:spcPts val="5435"/>
              </a:lnSpc>
              <a:spcBef>
                <a:spcPts val="0"/>
              </a:spcBef>
              <a:spcAft>
                <a:spcPts val="0"/>
              </a:spcAft>
            </a:pPr>
            <a:r>
              <a:rPr sz="4025" b="1">
                <a:solidFill>
                  <a:srgbClr val="2D5F3E"/>
                </a:solidFill>
                <a:latin typeface="Arial" panose="020B0604020202090204"/>
              </a:rPr>
              <a:t>+20% Hit@5  ·  −24% popularity bias  ·  97.9% adversarial defense</a:t>
            </a:r>
            <a:endParaRPr sz="402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26204525" y="16374764"/>
            <a:ext cx="13111964" cy="1895181"/>
          </a:xfrm>
          <a:prstGeom prst="rect">
            <a:avLst/>
          </a:prstGeom>
          <a:noFill/>
        </p:spPr>
        <p:txBody>
          <a:bodyPr wrap="square" lIns="339005" tIns="146033" rIns="339005" bIns="146033">
            <a:spAutoFit/>
          </a:bodyPr>
          <a:lstStyle/>
          <a:p>
            <a:pPr algn="l">
              <a:lnSpc>
                <a:spcPts val="5340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2D5F3E"/>
                </a:solidFill>
                <a:latin typeface="Arial" panose="020B0604020202090204"/>
              </a:rPr>
              <a:t>Two models + a reflection pass beat a single larger model on a fast-evolving catalog.</a:t>
            </a:r>
            <a:endParaRPr sz="4105" b="0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1127125" y="14644370"/>
            <a:ext cx="10329545" cy="1738630"/>
          </a:xfrm>
          <a:prstGeom prst="rect">
            <a:avLst/>
          </a:prstGeom>
          <a:noFill/>
        </p:spPr>
        <p:txBody>
          <a:bodyPr wrap="square" lIns="339005" tIns="146033" rIns="339005" bIns="146033">
            <a:noAutofit/>
          </a:bodyPr>
          <a:lstStyle/>
          <a:p>
            <a:pPr algn="l">
              <a:lnSpc>
                <a:spcPts val="5340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2D5F3E"/>
                </a:solidFill>
                <a:latin typeface="Arial" panose="020B0604020202090204"/>
              </a:rPr>
              <a:t>Static, monolithic LLM recommenders do not survive these three pressures at once.</a:t>
            </a:r>
            <a:endParaRPr sz="4105" b="0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039991" y="16929338"/>
            <a:ext cx="10329615" cy="1067236"/>
          </a:xfrm>
          <a:prstGeom prst="rect">
            <a:avLst/>
          </a:prstGeom>
          <a:noFill/>
        </p:spPr>
        <p:txBody>
          <a:bodyPr wrap="square" lIns="0" tIns="0" rIns="391160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 panose="020B0604020202090204"/>
              </a:rPr>
              <a:t>Motivation </a:t>
            </a:r>
            <a:endParaRPr sz="560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0137516" y="17997527"/>
            <a:ext cx="10329616" cy="1067236"/>
          </a:xfrm>
          <a:prstGeom prst="rect">
            <a:avLst/>
          </a:prstGeom>
          <a:noFill/>
        </p:spPr>
        <p:txBody>
          <a:bodyPr wrap="square" lIns="0" tIns="0" r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 panose="020B0604020202090204"/>
              </a:rPr>
              <a:t>Headline Numbers</a:t>
            </a:r>
            <a:endParaRPr sz="560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40181966" y="22915919"/>
            <a:ext cx="10283833" cy="1067237"/>
          </a:xfrm>
          <a:prstGeom prst="rect">
            <a:avLst/>
          </a:prstGeom>
          <a:noFill/>
        </p:spPr>
        <p:txBody>
          <a:bodyPr wrap="square" lIns="0" tIns="0" rIns="391160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 panose="020B0604020202090204"/>
              </a:rPr>
              <a:t>Takeaway </a:t>
            </a:r>
            <a:endParaRPr sz="560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0181966" y="24174688"/>
            <a:ext cx="10283833" cy="1739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Safety + recency must be first-class agents, not afterthoughts.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0181966" y="25958522"/>
            <a:ext cx="10283833" cy="4258247"/>
          </a:xfrm>
          <a:prstGeom prst="rect">
            <a:avLst/>
          </a:prstGeom>
          <a:noFill/>
        </p:spPr>
        <p:txBody>
          <a:bodyPr wrap="square" lIns="365082" tIns="156464" rIns="365082" bIns="156464">
            <a:spAutoFit/>
          </a:bodyPr>
          <a:lstStyle/>
          <a:p>
            <a:pPr algn="l">
              <a:lnSpc>
                <a:spcPts val="5340"/>
              </a:lnSpc>
              <a:spcBef>
                <a:spcPts val="0"/>
              </a:spcBef>
              <a:spcAft>
                <a:spcPts val="0"/>
              </a:spcAft>
            </a:pPr>
            <a:r>
              <a:rPr sz="4105" b="1">
                <a:solidFill>
                  <a:srgbClr val="FFFFFF"/>
                </a:solidFill>
                <a:latin typeface="Arial" panose="020B0604020202090204"/>
              </a:rPr>
              <a:t>Decomposing game CRS into specialized, safety-first agents yields accurate, diverse, </a:t>
            </a:r>
            <a:r>
              <a:rPr sz="4105" b="1" i="1">
                <a:solidFill>
                  <a:srgbClr val="FFFFFF"/>
                </a:solidFill>
                <a:latin typeface="Arial" panose="020B0604020202090204"/>
              </a:rPr>
              <a:t>safe</a:t>
            </a:r>
            <a:r>
              <a:rPr sz="4105" b="1">
                <a:solidFill>
                  <a:srgbClr val="FFFFFF"/>
                </a:solidFill>
                <a:latin typeface="Arial" panose="020B0604020202090204"/>
              </a:rPr>
              <a:t> recommendations where monolithic LLMs hallucinate — at +0.21 s/turn.</a:t>
            </a:r>
            <a:endParaRPr sz="4105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12271672" y="26792991"/>
            <a:ext cx="13111822" cy="1739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Each agent owns one concern. The full system adds only </a:t>
            </a:r>
            <a:r>
              <a:rPr sz="4105" b="1">
                <a:solidFill>
                  <a:srgbClr val="111111"/>
                </a:solidFill>
                <a:latin typeface="Arial" panose="020B0604020202090204"/>
              </a:rPr>
              <a:t>+0.21 s/turn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 over a single-agent baseline.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7080467" y="7855842"/>
            <a:ext cx="8491694" cy="724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4960"/>
              </a:lnSpc>
              <a:spcBef>
                <a:spcPts val="0"/>
              </a:spcBef>
              <a:spcAft>
                <a:spcPts val="0"/>
              </a:spcAft>
            </a:pPr>
            <a:r>
              <a:rPr sz="4310" b="1">
                <a:solidFill>
                  <a:srgbClr val="2D5F3E"/>
                </a:solidFill>
                <a:latin typeface="Arial" panose="020B0604020202090204"/>
              </a:rPr>
              <a:t>Multi-LLM Ranking &amp; Reflection</a:t>
            </a:r>
            <a:endParaRPr sz="431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7048102" y="7975580"/>
            <a:ext cx="1943080" cy="448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675" b="1" i="1">
                <a:solidFill>
                  <a:srgbClr val="555555"/>
                </a:solidFill>
                <a:latin typeface="Arial" panose="020B0604020202090204"/>
              </a:rPr>
              <a:t>ENSEMBLE</a:t>
            </a:r>
            <a:endParaRPr sz="2675" b="1" i="1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27080467" y="14898727"/>
            <a:ext cx="8210841" cy="724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4960"/>
              </a:lnSpc>
              <a:spcBef>
                <a:spcPts val="0"/>
              </a:spcBef>
              <a:spcAft>
                <a:spcPts val="0"/>
              </a:spcAft>
            </a:pPr>
            <a:r>
              <a:rPr sz="4310" b="1">
                <a:solidFill>
                  <a:srgbClr val="2D5F3E"/>
                </a:solidFill>
                <a:latin typeface="Arial" panose="020B0604020202090204"/>
              </a:rPr>
              <a:t>Multi-Dimensional Explanation</a:t>
            </a:r>
            <a:endParaRPr sz="431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37463154" y="15018464"/>
            <a:ext cx="1515577" cy="448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675" b="1" i="1">
                <a:solidFill>
                  <a:srgbClr val="555555"/>
                </a:solidFill>
                <a:latin typeface="Arial" panose="020B0604020202090204"/>
              </a:rPr>
              <a:t>EXPLAIN</a:t>
            </a:r>
            <a:endParaRPr sz="2675" b="1" i="1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6204506" y="18061602"/>
            <a:ext cx="13111984" cy="1739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3405" indent="-573405"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90204" pitchFamily="34" charset="0"/>
              <a:buChar char="•"/>
            </a:pPr>
            <a:r>
              <a:rPr sz="4105" b="1">
                <a:solidFill>
                  <a:srgbClr val="111111"/>
                </a:solidFill>
                <a:latin typeface="Arial" panose="020B0604020202090204"/>
              </a:rPr>
              <a:t>Category preferences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 — why this genre / sub-genre fits the user's stated taste.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1877675" y="13465810"/>
            <a:ext cx="13506450" cy="1682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365" b="0" i="1">
                <a:solidFill>
                  <a:srgbClr val="555555"/>
                </a:solidFill>
                <a:latin typeface="Arial" panose="020B0604020202090204"/>
              </a:rPr>
              <a:t>Overview of MATCHA: safety agents → tool-augmented candidate generation → multi-LLM ranking &amp; reflection → multi-dimensional explanation.</a:t>
            </a:r>
            <a:endParaRPr sz="3365" b="0" i="1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26204506" y="19707006"/>
            <a:ext cx="13111984" cy="1739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3405" indent="-573405"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90204" pitchFamily="34" charset="0"/>
              <a:buChar char="•"/>
            </a:pPr>
            <a:r>
              <a:rPr sz="4105" b="1">
                <a:solidFill>
                  <a:srgbClr val="111111"/>
                </a:solidFill>
                <a:latin typeface="Arial" panose="020B0604020202090204"/>
              </a:rPr>
              <a:t>Similarity to past picks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 — mechanics, style, and theme match to prior favorites.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3147615" y="15111749"/>
            <a:ext cx="5086976" cy="724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4960"/>
              </a:lnSpc>
              <a:spcBef>
                <a:spcPts val="0"/>
              </a:spcBef>
              <a:spcAft>
                <a:spcPts val="0"/>
              </a:spcAft>
            </a:pPr>
            <a:r>
              <a:rPr sz="4310" b="1">
                <a:solidFill>
                  <a:srgbClr val="2D5F3E"/>
                </a:solidFill>
                <a:latin typeface="Arial" panose="020B0604020202090204"/>
              </a:rPr>
              <a:t>Risk Control Agent</a:t>
            </a:r>
            <a:endParaRPr sz="431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23662262" y="15231487"/>
            <a:ext cx="1379515" cy="448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675" b="1" i="1">
                <a:solidFill>
                  <a:srgbClr val="555555"/>
                </a:solidFill>
                <a:latin typeface="Arial" panose="020B0604020202090204"/>
              </a:rPr>
              <a:t>SAFETY</a:t>
            </a:r>
            <a:endParaRPr sz="2675" b="1" i="1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12271654" y="15946715"/>
            <a:ext cx="13111841" cy="1739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3405" indent="-573405"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90204" pitchFamily="34" charset="0"/>
              <a:buChar char="•"/>
            </a:pP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Jailbreak Prevention — </a:t>
            </a:r>
            <a:r>
              <a:rPr sz="4105" b="1">
                <a:solidFill>
                  <a:srgbClr val="111111"/>
                </a:solidFill>
                <a:latin typeface="Arial" panose="020B0604020202090204"/>
              </a:rPr>
              <a:t>RA-LLM random-drop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: mask input tokens, watch the response change.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26204506" y="21203820"/>
            <a:ext cx="13111984" cy="26089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3405" indent="-573405"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90204" pitchFamily="34" charset="0"/>
              <a:buChar char="•"/>
            </a:pPr>
            <a:r>
              <a:rPr sz="4105" b="1">
                <a:solidFill>
                  <a:srgbClr val="111111"/>
                </a:solidFill>
                <a:latin typeface="Arial" panose="020B0604020202090204"/>
              </a:rPr>
              <a:t>Demographics + popularity/novelty</a:t>
            </a: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 — age-appropriate signals, ratings, recency, and fresh-but-credible picks.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2271654" y="17641649"/>
            <a:ext cx="13111841" cy="1739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3405" indent="-573405"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90204" pitchFamily="34" charset="0"/>
              <a:buChar char="•"/>
            </a:pP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Chain-of-thought intent detection + crafted fallback policies (binary adversarial flag).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2278004" y="19439453"/>
            <a:ext cx="13111841" cy="1739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573405" indent="-573405"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90204" pitchFamily="34" charset="0"/>
              <a:buChar char="•"/>
            </a:pPr>
            <a:r>
              <a:rPr sz="4105" b="0">
                <a:solidFill>
                  <a:srgbClr val="1C1C1C"/>
                </a:solidFill>
                <a:latin typeface="Arial" panose="020B0604020202090204"/>
              </a:rPr>
              <a:t>Dangerous-content detection as a second-layer filter on both query and model output.</a:t>
            </a:r>
            <a:endParaRPr sz="4105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13147615" y="23573819"/>
            <a:ext cx="9475753" cy="724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4960"/>
              </a:lnSpc>
              <a:spcBef>
                <a:spcPts val="0"/>
              </a:spcBef>
              <a:spcAft>
                <a:spcPts val="0"/>
              </a:spcAft>
            </a:pPr>
            <a:r>
              <a:rPr sz="4310" b="1">
                <a:solidFill>
                  <a:srgbClr val="2D5F3E"/>
                </a:solidFill>
                <a:latin typeface="Arial" panose="020B0604020202090204"/>
              </a:rPr>
              <a:t>Five Agents, One Recommendation</a:t>
            </a:r>
            <a:endParaRPr sz="431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3454459" y="23693556"/>
            <a:ext cx="1593552" cy="448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075"/>
              </a:lnSpc>
              <a:spcBef>
                <a:spcPts val="0"/>
              </a:spcBef>
              <a:spcAft>
                <a:spcPts val="0"/>
              </a:spcAft>
            </a:pPr>
            <a:r>
              <a:rPr sz="2675" b="1" i="1">
                <a:solidFill>
                  <a:srgbClr val="555555"/>
                </a:solidFill>
                <a:latin typeface="Arial" panose="020B0604020202090204"/>
              </a:rPr>
              <a:t>PIPELINE</a:t>
            </a:r>
            <a:endParaRPr sz="2675" b="1" i="1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7697489" y="24617283"/>
            <a:ext cx="1934781" cy="2454597"/>
          </a:xfrm>
          <a:prstGeom prst="rect">
            <a:avLst/>
          </a:prstGeom>
          <a:noFill/>
        </p:spPr>
        <p:txBody>
          <a:bodyPr wrap="square" lIns="85533" tIns="128300" rIns="85533" bIns="128300">
            <a:spAutoFit/>
          </a:bodyPr>
          <a:lstStyle/>
          <a:p>
            <a:pPr algn="ctr">
              <a:lnSpc>
                <a:spcPts val="4880"/>
              </a:lnSpc>
              <a:spcBef>
                <a:spcPts val="0"/>
              </a:spcBef>
              <a:spcAft>
                <a:spcPts val="0"/>
              </a:spcAft>
            </a:pPr>
            <a:r>
              <a:rPr sz="3365" b="1">
                <a:solidFill>
                  <a:srgbClr val="2D5F3E"/>
                </a:solidFill>
                <a:latin typeface="Arial" panose="020B0604020202090204"/>
              </a:rPr>
              <a:t>Multi-LLM Rank</a:t>
            </a:r>
            <a:endParaRPr sz="336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4984511" y="24927321"/>
            <a:ext cx="1934925" cy="1741509"/>
          </a:xfrm>
          <a:prstGeom prst="rect">
            <a:avLst/>
          </a:prstGeom>
          <a:noFill/>
        </p:spPr>
        <p:txBody>
          <a:bodyPr wrap="square" lIns="85533" tIns="128300" rIns="85533" bIns="128300">
            <a:spAutoFit/>
          </a:bodyPr>
          <a:lstStyle/>
          <a:p>
            <a:pPr algn="ctr">
              <a:lnSpc>
                <a:spcPts val="4880"/>
              </a:lnSpc>
              <a:spcBef>
                <a:spcPts val="0"/>
              </a:spcBef>
              <a:spcAft>
                <a:spcPts val="0"/>
              </a:spcAft>
            </a:pPr>
            <a:r>
              <a:rPr sz="3365" b="1">
                <a:solidFill>
                  <a:srgbClr val="2D5F3E"/>
                </a:solidFill>
                <a:latin typeface="Arial" panose="020B0604020202090204"/>
              </a:rPr>
              <a:t>Intent + Tools</a:t>
            </a:r>
            <a:endParaRPr sz="336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4306510" y="25306397"/>
            <a:ext cx="537240" cy="869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1">
                <a:solidFill>
                  <a:srgbClr val="2D5F3E"/>
                </a:solidFill>
                <a:latin typeface="Arial" panose="020B0604020202090204"/>
              </a:rPr>
              <a:t>→</a:t>
            </a:r>
            <a:endParaRPr sz="410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7019488" y="25306397"/>
            <a:ext cx="537240" cy="869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1">
                <a:solidFill>
                  <a:srgbClr val="2D5F3E"/>
                </a:solidFill>
                <a:latin typeface="Arial" panose="020B0604020202090204"/>
              </a:rPr>
              <a:t>→</a:t>
            </a:r>
            <a:endParaRPr sz="410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9732327" y="25306397"/>
            <a:ext cx="537240" cy="869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1">
                <a:solidFill>
                  <a:srgbClr val="2D5F3E"/>
                </a:solidFill>
                <a:latin typeface="Arial" panose="020B0604020202090204"/>
              </a:rPr>
              <a:t>→</a:t>
            </a:r>
            <a:endParaRPr sz="410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22445166" y="25306397"/>
            <a:ext cx="537240" cy="8696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5955"/>
              </a:lnSpc>
              <a:spcBef>
                <a:spcPts val="0"/>
              </a:spcBef>
              <a:spcAft>
                <a:spcPts val="0"/>
              </a:spcAft>
            </a:pPr>
            <a:r>
              <a:rPr sz="4105" b="1">
                <a:solidFill>
                  <a:srgbClr val="2D5F3E"/>
                </a:solidFill>
                <a:latin typeface="Arial" panose="020B0604020202090204"/>
              </a:rPr>
              <a:t>→</a:t>
            </a:r>
            <a:endParaRPr sz="4105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40383380" y="19467849"/>
            <a:ext cx="5289424" cy="15539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 panose="020B0604020202090204"/>
              </a:rPr>
              <a:t>97.9%</a:t>
            </a:r>
            <a:endParaRPr sz="11200" b="1" spc="-224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40383380" y="20842743"/>
            <a:ext cx="5289424" cy="599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4105"/>
              </a:lnSpc>
              <a:spcBef>
                <a:spcPts val="0"/>
              </a:spcBef>
              <a:spcAft>
                <a:spcPts val="0"/>
              </a:spcAft>
            </a:pPr>
            <a:r>
              <a:rPr sz="3735" b="1">
                <a:solidFill>
                  <a:srgbClr val="1C1C1C"/>
                </a:solidFill>
                <a:latin typeface="Arial" panose="020B0604020202090204"/>
              </a:rPr>
              <a:t>Jailbreak Defense</a:t>
            </a:r>
            <a:endParaRPr sz="3735" b="1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40383380" y="21364197"/>
            <a:ext cx="5289424" cy="47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 panose="020B0604020202090204"/>
              </a:rPr>
              <a:t>+27.8 pts over GPT-4o (70.1%)</a:t>
            </a:r>
            <a:endParaRPr sz="2800" b="0" i="1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329828" y="20076318"/>
            <a:ext cx="9738723" cy="2674882"/>
          </a:xfrm>
          <a:prstGeom prst="rect">
            <a:avLst/>
          </a:prstGeom>
          <a:noFill/>
        </p:spPr>
        <p:txBody>
          <a:bodyPr wrap="square" lIns="339005" tIns="146033" rIns="339005" bIns="146033">
            <a:spAutoFit/>
          </a:bodyPr>
          <a:lstStyle/>
          <a:p>
            <a:pPr algn="l">
              <a:lnSpc>
                <a:spcPts val="5340"/>
              </a:lnSpc>
              <a:spcBef>
                <a:spcPts val="0"/>
              </a:spcBef>
              <a:spcAft>
                <a:spcPts val="0"/>
              </a:spcAft>
            </a:pPr>
            <a:r>
              <a:rPr sz="4105" b="0">
                <a:solidFill>
                  <a:srgbClr val="2D5F3E"/>
                </a:solidFill>
                <a:latin typeface="Arial" panose="020B0604020202090204"/>
              </a:rPr>
              <a:t>Three gaps: complex interaction-driven constraints, knowledge recency, and adversarial safety.</a:t>
            </a:r>
            <a:endParaRPr sz="4105" b="0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12480170" y="28681263"/>
            <a:ext cx="3761973" cy="9595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 panose="020B0604020202090204"/>
              </a:rPr>
              <a:t>17</a:t>
            </a:r>
            <a:endParaRPr sz="657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6810295" y="28681263"/>
            <a:ext cx="3762116" cy="9595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 panose="020B0604020202090204"/>
              </a:rPr>
              <a:t>+0.21s</a:t>
            </a:r>
            <a:endParaRPr sz="657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21140558" y="28681263"/>
            <a:ext cx="3762116" cy="9595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 panose="020B0604020202090204"/>
              </a:rPr>
              <a:t>2×</a:t>
            </a:r>
            <a:endParaRPr sz="657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2480170" y="29583459"/>
            <a:ext cx="3761973" cy="4483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670" b="0">
                <a:solidFill>
                  <a:srgbClr val="555555"/>
                </a:solidFill>
                <a:latin typeface="Arial" panose="020B0604020202090204"/>
              </a:rPr>
              <a:t>live retrieval tools</a:t>
            </a:r>
            <a:endParaRPr sz="2670" b="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16810295" y="29583459"/>
            <a:ext cx="3762116" cy="4483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670" b="0">
                <a:solidFill>
                  <a:srgbClr val="555555"/>
                </a:solidFill>
                <a:latin typeface="Arial" panose="020B0604020202090204"/>
              </a:rPr>
              <a:t>latency vs single-agent</a:t>
            </a:r>
            <a:endParaRPr sz="2670" b="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21140558" y="29583459"/>
            <a:ext cx="3762116" cy="4483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670" b="0">
                <a:solidFill>
                  <a:srgbClr val="555555"/>
                </a:solidFill>
                <a:latin typeface="Arial" panose="020B0604020202090204"/>
              </a:rPr>
              <a:t>LLM ensemble</a:t>
            </a:r>
            <a:endParaRPr sz="2670" b="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40137516" y="9090302"/>
            <a:ext cx="5425774" cy="812449"/>
          </a:xfrm>
          <a:prstGeom prst="rect">
            <a:avLst/>
          </a:prstGeom>
          <a:noFill/>
        </p:spPr>
        <p:txBody>
          <a:bodyPr wrap="square" lIns="185800" tIns="81752" rIns="185800" bIns="81752">
            <a:spAutoFit/>
          </a:bodyPr>
          <a:lstStyle/>
          <a:p>
            <a:pPr algn="l">
              <a:lnSpc>
                <a:spcPts val="4240"/>
              </a:lnSpc>
              <a:spcBef>
                <a:spcPts val="0"/>
              </a:spcBef>
              <a:spcAft>
                <a:spcPts val="0"/>
              </a:spcAft>
            </a:pPr>
            <a:r>
              <a:rPr sz="2925" b="1" spc="146">
                <a:solidFill>
                  <a:srgbClr val="555555"/>
                </a:solidFill>
                <a:latin typeface="Arial" panose="020B0604020202090204"/>
              </a:rPr>
              <a:t>SYSTEM (GPT-4O)</a:t>
            </a:r>
            <a:endParaRPr sz="2925" b="1" spc="146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45405258" y="9090302"/>
            <a:ext cx="2144956" cy="812449"/>
          </a:xfrm>
          <a:prstGeom prst="rect">
            <a:avLst/>
          </a:prstGeom>
          <a:noFill/>
        </p:spPr>
        <p:txBody>
          <a:bodyPr wrap="none" lIns="185800" tIns="81752" rIns="185800" bIns="81752">
            <a:spAutoFit/>
          </a:bodyPr>
          <a:lstStyle/>
          <a:p>
            <a:pPr algn="l">
              <a:lnSpc>
                <a:spcPts val="4240"/>
              </a:lnSpc>
              <a:spcBef>
                <a:spcPts val="0"/>
              </a:spcBef>
              <a:spcAft>
                <a:spcPts val="0"/>
              </a:spcAft>
            </a:pPr>
            <a:r>
              <a:rPr sz="2925" b="1" spc="146">
                <a:solidFill>
                  <a:srgbClr val="555555"/>
                </a:solidFill>
                <a:latin typeface="Arial" panose="020B0604020202090204"/>
              </a:rPr>
              <a:t>HIT@5</a:t>
            </a:r>
            <a:endParaRPr sz="2925" b="1" spc="146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47487740" y="9090302"/>
            <a:ext cx="1202246" cy="812449"/>
          </a:xfrm>
          <a:prstGeom prst="rect">
            <a:avLst/>
          </a:prstGeom>
          <a:noFill/>
        </p:spPr>
        <p:txBody>
          <a:bodyPr wrap="none" lIns="185800" tIns="81752" rIns="185800" bIns="81752">
            <a:spAutoFit/>
          </a:bodyPr>
          <a:lstStyle/>
          <a:p>
            <a:pPr algn="l">
              <a:lnSpc>
                <a:spcPts val="4240"/>
              </a:lnSpc>
              <a:spcBef>
                <a:spcPts val="0"/>
              </a:spcBef>
              <a:spcAft>
                <a:spcPts val="0"/>
              </a:spcAft>
            </a:pPr>
            <a:r>
              <a:rPr sz="2925" b="1" spc="146">
                <a:solidFill>
                  <a:srgbClr val="555555"/>
                </a:solidFill>
                <a:latin typeface="Arial" panose="020B0604020202090204"/>
              </a:rPr>
              <a:t>JP</a:t>
            </a:r>
            <a:endParaRPr sz="2925" b="1" spc="146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48654970" y="9090302"/>
            <a:ext cx="1556639" cy="812449"/>
          </a:xfrm>
          <a:prstGeom prst="rect">
            <a:avLst/>
          </a:prstGeom>
          <a:noFill/>
        </p:spPr>
        <p:txBody>
          <a:bodyPr wrap="none" lIns="185800" tIns="81752" rIns="185800" bIns="81752">
            <a:spAutoFit/>
          </a:bodyPr>
          <a:lstStyle/>
          <a:p>
            <a:pPr algn="l">
              <a:lnSpc>
                <a:spcPts val="4240"/>
              </a:lnSpc>
              <a:spcBef>
                <a:spcPts val="0"/>
              </a:spcBef>
              <a:spcAft>
                <a:spcPts val="0"/>
              </a:spcAft>
            </a:pPr>
            <a:r>
              <a:rPr sz="2925" b="1" spc="146">
                <a:solidFill>
                  <a:srgbClr val="555555"/>
                </a:solidFill>
                <a:latin typeface="Arial" panose="020B0604020202090204"/>
              </a:rPr>
              <a:t>EXP</a:t>
            </a:r>
            <a:endParaRPr sz="2925" b="1" spc="146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40137516" y="9796780"/>
            <a:ext cx="5425774" cy="1086885"/>
          </a:xfrm>
          <a:prstGeom prst="rect">
            <a:avLst/>
          </a:prstGeom>
          <a:noFill/>
        </p:spPr>
        <p:txBody>
          <a:bodyPr wrap="squar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Base LLM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45405258" y="9796780"/>
            <a:ext cx="2144956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0.23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47487740" y="9796780"/>
            <a:ext cx="1202246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✘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48654970" y="9796780"/>
            <a:ext cx="1556639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—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40137516" y="10741898"/>
            <a:ext cx="5425774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OMuleT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45405258" y="10741898"/>
            <a:ext cx="2144956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0.24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7487740" y="10741898"/>
            <a:ext cx="1202246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✘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48654970" y="10741898"/>
            <a:ext cx="1556639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—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40137516" y="11687016"/>
            <a:ext cx="5425774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MACRec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45405258" y="11687016"/>
            <a:ext cx="2144956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0.21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47487740" y="11687016"/>
            <a:ext cx="1202246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✘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48654970" y="11687016"/>
            <a:ext cx="1556639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0">
                <a:solidFill>
                  <a:srgbClr val="1C1C1C"/>
                </a:solidFill>
                <a:latin typeface="Arial" panose="020B0604020202090204"/>
              </a:rPr>
              <a:t>1.7</a:t>
            </a:r>
            <a:endParaRPr sz="3900" b="0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40137516" y="12632134"/>
            <a:ext cx="5425774" cy="1086885"/>
          </a:xfrm>
          <a:prstGeom prst="rect">
            <a:avLst/>
          </a:prstGeom>
          <a:noFill/>
        </p:spPr>
        <p:txBody>
          <a:bodyPr wrap="squar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11111"/>
                </a:solidFill>
                <a:latin typeface="Arial" panose="020B0604020202090204"/>
              </a:rPr>
              <a:t>MATCHA (ours)</a:t>
            </a:r>
            <a:endParaRPr sz="39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5405258" y="12632134"/>
            <a:ext cx="2144956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11111"/>
                </a:solidFill>
                <a:latin typeface="Arial" panose="020B0604020202090204"/>
              </a:rPr>
              <a:t>0.29</a:t>
            </a:r>
            <a:endParaRPr sz="39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7487740" y="12632134"/>
            <a:ext cx="1202246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C1C1C"/>
                </a:solidFill>
                <a:latin typeface="Arial" panose="020B0604020202090204"/>
              </a:rPr>
              <a:t>✔</a:t>
            </a:r>
            <a:endParaRPr sz="3900" b="1">
              <a:solidFill>
                <a:srgbClr val="1C1C1C"/>
              </a:solidFill>
              <a:latin typeface="Arial" panose="020B0604020202090204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48654970" y="12632134"/>
            <a:ext cx="1556639" cy="1086885"/>
          </a:xfrm>
          <a:prstGeom prst="rect">
            <a:avLst/>
          </a:prstGeom>
          <a:noFill/>
        </p:spPr>
        <p:txBody>
          <a:bodyPr wrap="none" lIns="247734" tIns="109002" rIns="247734" bIns="109002">
            <a:spAutoFit/>
          </a:bodyPr>
          <a:lstStyle/>
          <a:p>
            <a:pPr algn="l">
              <a:lnSpc>
                <a:spcPts val="565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111111"/>
                </a:solidFill>
                <a:latin typeface="Arial" panose="020B0604020202090204"/>
              </a:rPr>
              <a:t>4.2</a:t>
            </a:r>
            <a:endParaRPr sz="3900" b="1">
              <a:solidFill>
                <a:srgbClr val="111111"/>
              </a:solidFill>
              <a:latin typeface="Arial" panose="020B0604020202090204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46570681" y="19467849"/>
            <a:ext cx="1070619" cy="6269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4295" b="1" spc="-42">
                <a:solidFill>
                  <a:srgbClr val="AE2622"/>
                </a:solidFill>
                <a:latin typeface="Arial" panose="020B0604020202090204"/>
              </a:rPr>
              <a:t>0.29</a:t>
            </a:r>
            <a:endParaRPr sz="4295" b="1" spc="-42">
              <a:solidFill>
                <a:srgbClr val="AE2622"/>
              </a:solidFill>
              <a:latin typeface="Arial" panose="020B0604020202090204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47792640" y="19592309"/>
            <a:ext cx="1023260" cy="4907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 panose="020B0604020202090204"/>
              </a:rPr>
              <a:t>Hit@5</a:t>
            </a:r>
            <a:endParaRPr sz="2800" b="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6570681" y="20323095"/>
            <a:ext cx="1429589" cy="6269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4295" b="1" spc="-42">
                <a:solidFill>
                  <a:srgbClr val="AE2622"/>
                </a:solidFill>
                <a:latin typeface="Arial" panose="020B0604020202090204"/>
              </a:rPr>
              <a:t>−24%</a:t>
            </a:r>
            <a:endParaRPr sz="4295" b="1" spc="-42">
              <a:solidFill>
                <a:srgbClr val="AE2622"/>
              </a:solidFill>
              <a:latin typeface="Arial" panose="020B0604020202090204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48141155" y="20447555"/>
            <a:ext cx="1832627" cy="490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 panose="020B0604020202090204"/>
              </a:rPr>
              <a:t>Pop-Bias Δ</a:t>
            </a:r>
            <a:endParaRPr sz="2800" b="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46570681" y="21178480"/>
            <a:ext cx="1220988" cy="6269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4295"/>
              </a:lnSpc>
              <a:spcBef>
                <a:spcPts val="0"/>
              </a:spcBef>
              <a:spcAft>
                <a:spcPts val="0"/>
              </a:spcAft>
            </a:pPr>
            <a:r>
              <a:rPr sz="4295" b="1" spc="-42">
                <a:solidFill>
                  <a:srgbClr val="AE2622"/>
                </a:solidFill>
                <a:latin typeface="Arial" panose="020B0604020202090204"/>
              </a:rPr>
              <a:t>4.2/5</a:t>
            </a:r>
            <a:endParaRPr sz="4295" b="1" spc="-42">
              <a:solidFill>
                <a:srgbClr val="AE2622"/>
              </a:solidFill>
              <a:latin typeface="Arial" panose="020B0604020202090204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47938630" y="21302940"/>
            <a:ext cx="1914179" cy="490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 panose="020B0604020202090204"/>
              </a:rPr>
              <a:t>Explanation</a:t>
            </a:r>
            <a:endParaRPr sz="2800" b="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1822172" y="17967582"/>
            <a:ext cx="2637701" cy="9595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 panose="020B0604020202090204"/>
              </a:rPr>
              <a:t>76.2%</a:t>
            </a:r>
            <a:endParaRPr sz="657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5060771" y="17967582"/>
            <a:ext cx="2637702" cy="9595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 panose="020B0604020202090204"/>
              </a:rPr>
              <a:t>23.8%</a:t>
            </a:r>
            <a:endParaRPr sz="657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8299370" y="17967582"/>
            <a:ext cx="2637702" cy="9595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2D5F3E"/>
                </a:solidFill>
                <a:latin typeface="Arial" panose="020B0604020202090204"/>
              </a:rPr>
              <a:t>7.8%</a:t>
            </a:r>
            <a:endParaRPr sz="6570" b="1">
              <a:solidFill>
                <a:srgbClr val="2D5F3E"/>
              </a:solidFill>
              <a:latin typeface="Arial" panose="020B0604020202090204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822172" y="18869779"/>
            <a:ext cx="2637701" cy="89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670" b="0">
                <a:solidFill>
                  <a:srgbClr val="555555"/>
                </a:solidFill>
                <a:latin typeface="Arial" panose="020B0604020202090204"/>
              </a:rPr>
              <a:t>game title recognition</a:t>
            </a:r>
            <a:endParaRPr sz="2670" b="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060771" y="18869779"/>
            <a:ext cx="2637702" cy="89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670" b="0">
                <a:solidFill>
                  <a:srgbClr val="555555"/>
                </a:solidFill>
                <a:latin typeface="Arial" panose="020B0604020202090204"/>
              </a:rPr>
              <a:t>game hallucination</a:t>
            </a:r>
            <a:endParaRPr sz="2670" b="0">
              <a:solidFill>
                <a:srgbClr val="555555"/>
              </a:solidFill>
              <a:latin typeface="Arial" panose="020B0604020202090204"/>
            </a:endParaRPr>
          </a:p>
        </p:txBody>
      </p:sp>
      <p:sp>
        <p:nvSpPr>
          <p:cNvPr id="189" name="TextBox 188"/>
          <p:cNvSpPr txBox="1"/>
          <p:nvPr/>
        </p:nvSpPr>
        <p:spPr>
          <a:xfrm>
            <a:off x="8299370" y="18869779"/>
            <a:ext cx="2637702" cy="896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3070"/>
              </a:lnSpc>
              <a:spcBef>
                <a:spcPts val="0"/>
              </a:spcBef>
              <a:spcAft>
                <a:spcPts val="0"/>
              </a:spcAft>
            </a:pPr>
            <a:r>
              <a:rPr sz="2670" b="0">
                <a:solidFill>
                  <a:srgbClr val="555555"/>
                </a:solidFill>
                <a:latin typeface="Arial" panose="020B0604020202090204"/>
              </a:rPr>
              <a:t>unsafe game CRS</a:t>
            </a:r>
            <a:endParaRPr sz="2670" b="0">
              <a:solidFill>
                <a:srgbClr val="555555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3163</Words>
  <Application>WPS 演示</Application>
  <PresentationFormat>On-screen Show (4:3)</PresentationFormat>
  <Paragraphs>185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Calibri</vt:lpstr>
      <vt:lpstr>Helvetica Neue</vt:lpstr>
      <vt:lpstr>汉仪书宋二KW</vt:lpstr>
      <vt:lpstr>Arial Unicode MS</vt:lpstr>
      <vt:lpstr>微软雅黑</vt:lpstr>
      <vt:lpstr>方正雅意黑 GB18030L2</vt:lpstr>
      <vt:lpstr>宋体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白岩浩</cp:lastModifiedBy>
  <cp:revision>4</cp:revision>
  <dcterms:created xsi:type="dcterms:W3CDTF">2026-08-13T06:06:37Z</dcterms:created>
  <dcterms:modified xsi:type="dcterms:W3CDTF">2026-08-13T06:06:37Z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93D09A1FBB3474D95A5E7D6ADF2D4C1C_42</vt:lpwstr>
  </property>
</Properties>
</file>